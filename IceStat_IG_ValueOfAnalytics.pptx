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875838" cy="12344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1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6A4AF9-230E-409F-8DD3-5EAF968CE127}" v="25" dt="2025-12-16T04:13:41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6" autoAdjust="0"/>
    <p:restoredTop sz="94660"/>
  </p:normalViewPr>
  <p:slideViewPr>
    <p:cSldViewPr snapToGrid="0">
      <p:cViewPr varScale="1">
        <p:scale>
          <a:sx n="55" d="100"/>
          <a:sy n="55" d="100"/>
        </p:scale>
        <p:origin x="20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0688" y="2020253"/>
            <a:ext cx="8394462" cy="4297680"/>
          </a:xfrm>
        </p:spPr>
        <p:txBody>
          <a:bodyPr anchor="b"/>
          <a:lstStyle>
            <a:lvl1pPr algn="ctr"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4480" y="6483668"/>
            <a:ext cx="7406879" cy="2980372"/>
          </a:xfrm>
        </p:spPr>
        <p:txBody>
          <a:bodyPr/>
          <a:lstStyle>
            <a:lvl1pPr marL="0" indent="0" algn="ctr">
              <a:buNone/>
              <a:defRPr sz="2592"/>
            </a:lvl1pPr>
            <a:lvl2pPr marL="493776" indent="0" algn="ctr">
              <a:buNone/>
              <a:defRPr sz="2160"/>
            </a:lvl2pPr>
            <a:lvl3pPr marL="987552" indent="0" algn="ctr">
              <a:buNone/>
              <a:defRPr sz="1944"/>
            </a:lvl3pPr>
            <a:lvl4pPr marL="1481328" indent="0" algn="ctr">
              <a:buNone/>
              <a:defRPr sz="1728"/>
            </a:lvl4pPr>
            <a:lvl5pPr marL="1975104" indent="0" algn="ctr">
              <a:buNone/>
              <a:defRPr sz="1728"/>
            </a:lvl5pPr>
            <a:lvl6pPr marL="2468880" indent="0" algn="ctr">
              <a:buNone/>
              <a:defRPr sz="1728"/>
            </a:lvl6pPr>
            <a:lvl7pPr marL="2962656" indent="0" algn="ctr">
              <a:buNone/>
              <a:defRPr sz="1728"/>
            </a:lvl7pPr>
            <a:lvl8pPr marL="3456432" indent="0" algn="ctr">
              <a:buNone/>
              <a:defRPr sz="1728"/>
            </a:lvl8pPr>
            <a:lvl9pPr marL="3950208" indent="0" algn="ctr">
              <a:buNone/>
              <a:defRPr sz="172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95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3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3821" y="3077531"/>
            <a:ext cx="8517910" cy="5134927"/>
          </a:xfrm>
        </p:spPr>
        <p:txBody>
          <a:bodyPr anchor="b"/>
          <a:lstStyle>
            <a:lvl1pPr>
              <a:defRPr sz="6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3821" y="8261036"/>
            <a:ext cx="8517910" cy="2700337"/>
          </a:xfrm>
        </p:spPr>
        <p:txBody>
          <a:bodyPr/>
          <a:lstStyle>
            <a:lvl1pPr marL="0" indent="0">
              <a:buNone/>
              <a:defRPr sz="2592">
                <a:solidFill>
                  <a:schemeClr val="tx1">
                    <a:tint val="82000"/>
                  </a:schemeClr>
                </a:solidFill>
              </a:defRPr>
            </a:lvl1pPr>
            <a:lvl2pPr marL="493776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2pPr>
            <a:lvl3pPr marL="987552" indent="0">
              <a:buNone/>
              <a:defRPr sz="1944">
                <a:solidFill>
                  <a:schemeClr val="tx1">
                    <a:tint val="82000"/>
                  </a:schemeClr>
                </a:solidFill>
              </a:defRPr>
            </a:lvl3pPr>
            <a:lvl4pPr marL="1481328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4pPr>
            <a:lvl5pPr marL="1975104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5pPr>
            <a:lvl6pPr marL="2468880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6pPr>
            <a:lvl7pPr marL="2962656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7pPr>
            <a:lvl8pPr marL="3456432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8pPr>
            <a:lvl9pPr marL="3950208" indent="0">
              <a:buNone/>
              <a:defRPr sz="172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27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8964" y="3286125"/>
            <a:ext cx="419723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9643" y="3286125"/>
            <a:ext cx="4197231" cy="7832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6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657228"/>
            <a:ext cx="8517910" cy="23860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251" y="3026093"/>
            <a:ext cx="4177942" cy="1483042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251" y="4509135"/>
            <a:ext cx="4177942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99644" y="3026093"/>
            <a:ext cx="4198517" cy="1483042"/>
          </a:xfrm>
        </p:spPr>
        <p:txBody>
          <a:bodyPr anchor="b"/>
          <a:lstStyle>
            <a:lvl1pPr marL="0" indent="0">
              <a:buNone/>
              <a:defRPr sz="2592" b="1"/>
            </a:lvl1pPr>
            <a:lvl2pPr marL="493776" indent="0">
              <a:buNone/>
              <a:defRPr sz="2160" b="1"/>
            </a:lvl2pPr>
            <a:lvl3pPr marL="987552" indent="0">
              <a:buNone/>
              <a:defRPr sz="1944" b="1"/>
            </a:lvl3pPr>
            <a:lvl4pPr marL="1481328" indent="0">
              <a:buNone/>
              <a:defRPr sz="1728" b="1"/>
            </a:lvl4pPr>
            <a:lvl5pPr marL="1975104" indent="0">
              <a:buNone/>
              <a:defRPr sz="1728" b="1"/>
            </a:lvl5pPr>
            <a:lvl6pPr marL="2468880" indent="0">
              <a:buNone/>
              <a:defRPr sz="1728" b="1"/>
            </a:lvl6pPr>
            <a:lvl7pPr marL="2962656" indent="0">
              <a:buNone/>
              <a:defRPr sz="1728" b="1"/>
            </a:lvl7pPr>
            <a:lvl8pPr marL="3456432" indent="0">
              <a:buNone/>
              <a:defRPr sz="1728" b="1"/>
            </a:lvl8pPr>
            <a:lvl9pPr marL="3950208" indent="0">
              <a:buNone/>
              <a:defRPr sz="172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99644" y="4509135"/>
            <a:ext cx="4198517" cy="66322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7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1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3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822960"/>
            <a:ext cx="3185215" cy="288036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8517" y="1777368"/>
            <a:ext cx="4999643" cy="8772525"/>
          </a:xfrm>
        </p:spPr>
        <p:txBody>
          <a:bodyPr/>
          <a:lstStyle>
            <a:lvl1pPr>
              <a:defRPr sz="3456"/>
            </a:lvl1pPr>
            <a:lvl2pPr>
              <a:defRPr sz="3024"/>
            </a:lvl2pPr>
            <a:lvl3pPr>
              <a:defRPr sz="2592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3703320"/>
            <a:ext cx="3185215" cy="6860858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4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250" y="822960"/>
            <a:ext cx="3185215" cy="2880360"/>
          </a:xfrm>
        </p:spPr>
        <p:txBody>
          <a:bodyPr anchor="b"/>
          <a:lstStyle>
            <a:lvl1pPr>
              <a:defRPr sz="34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98517" y="1777368"/>
            <a:ext cx="4999643" cy="8772525"/>
          </a:xfrm>
        </p:spPr>
        <p:txBody>
          <a:bodyPr anchor="t"/>
          <a:lstStyle>
            <a:lvl1pPr marL="0" indent="0">
              <a:buNone/>
              <a:defRPr sz="3456"/>
            </a:lvl1pPr>
            <a:lvl2pPr marL="493776" indent="0">
              <a:buNone/>
              <a:defRPr sz="3024"/>
            </a:lvl2pPr>
            <a:lvl3pPr marL="987552" indent="0">
              <a:buNone/>
              <a:defRPr sz="2592"/>
            </a:lvl3pPr>
            <a:lvl4pPr marL="1481328" indent="0">
              <a:buNone/>
              <a:defRPr sz="2160"/>
            </a:lvl4pPr>
            <a:lvl5pPr marL="1975104" indent="0">
              <a:buNone/>
              <a:defRPr sz="2160"/>
            </a:lvl5pPr>
            <a:lvl6pPr marL="2468880" indent="0">
              <a:buNone/>
              <a:defRPr sz="2160"/>
            </a:lvl6pPr>
            <a:lvl7pPr marL="2962656" indent="0">
              <a:buNone/>
              <a:defRPr sz="2160"/>
            </a:lvl7pPr>
            <a:lvl8pPr marL="3456432" indent="0">
              <a:buNone/>
              <a:defRPr sz="2160"/>
            </a:lvl8pPr>
            <a:lvl9pPr marL="3950208" indent="0">
              <a:buNone/>
              <a:defRPr sz="21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250" y="3703320"/>
            <a:ext cx="3185215" cy="6860858"/>
          </a:xfrm>
        </p:spPr>
        <p:txBody>
          <a:bodyPr/>
          <a:lstStyle>
            <a:lvl1pPr marL="0" indent="0">
              <a:buNone/>
              <a:defRPr sz="1728"/>
            </a:lvl1pPr>
            <a:lvl2pPr marL="493776" indent="0">
              <a:buNone/>
              <a:defRPr sz="1512"/>
            </a:lvl2pPr>
            <a:lvl3pPr marL="987552" indent="0">
              <a:buNone/>
              <a:defRPr sz="1296"/>
            </a:lvl3pPr>
            <a:lvl4pPr marL="1481328" indent="0">
              <a:buNone/>
              <a:defRPr sz="1080"/>
            </a:lvl4pPr>
            <a:lvl5pPr marL="1975104" indent="0">
              <a:buNone/>
              <a:defRPr sz="1080"/>
            </a:lvl5pPr>
            <a:lvl6pPr marL="2468880" indent="0">
              <a:buNone/>
              <a:defRPr sz="1080"/>
            </a:lvl6pPr>
            <a:lvl7pPr marL="2962656" indent="0">
              <a:buNone/>
              <a:defRPr sz="1080"/>
            </a:lvl7pPr>
            <a:lvl8pPr marL="3456432" indent="0">
              <a:buNone/>
              <a:defRPr sz="1080"/>
            </a:lvl8pPr>
            <a:lvl9pPr marL="3950208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51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66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67397" y="657225"/>
            <a:ext cx="2129478" cy="1046130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8964" y="657225"/>
            <a:ext cx="6264985" cy="1046130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58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8964" y="657228"/>
            <a:ext cx="8517910" cy="2386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8964" y="3286125"/>
            <a:ext cx="8517910" cy="783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8964" y="11441433"/>
            <a:ext cx="2222064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AC6FF6-D176-4D8D-A14A-2A0B61945A60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71372" y="11441433"/>
            <a:ext cx="3333095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4810" y="11441433"/>
            <a:ext cx="2222064" cy="657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DAF6B8-1B1E-4B68-8601-931609F15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39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87552" rtl="0" eaLnBrk="1" latinLnBrk="0" hangingPunct="1">
        <a:lnSpc>
          <a:spcPct val="90000"/>
        </a:lnSpc>
        <a:spcBef>
          <a:spcPct val="0"/>
        </a:spcBef>
        <a:buNone/>
        <a:defRPr sz="47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88" indent="-246888" algn="l" defTabSz="987552" rtl="0" eaLnBrk="1" latinLnBrk="0" hangingPunct="1">
        <a:lnSpc>
          <a:spcPct val="90000"/>
        </a:lnSpc>
        <a:spcBef>
          <a:spcPts val="108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92" kern="1200">
          <a:solidFill>
            <a:schemeClr val="tx1"/>
          </a:solidFill>
          <a:latin typeface="+mn-lt"/>
          <a:ea typeface="+mn-ea"/>
          <a:cs typeface="+mn-cs"/>
        </a:defRPr>
      </a:lvl2pPr>
      <a:lvl3pPr marL="123444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2221992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715768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3209544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703320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indent="-246888" algn="l" defTabSz="987552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2pPr>
      <a:lvl3pPr marL="98755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3pPr>
      <a:lvl4pPr marL="148132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4pPr>
      <a:lvl5pPr marL="1975104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5pPr>
      <a:lvl6pPr marL="2468880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6pPr>
      <a:lvl7pPr marL="2962656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7pPr>
      <a:lvl8pPr marL="3456432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8pPr>
      <a:lvl9pPr marL="3950208" algn="l" defTabSz="987552" rtl="0" eaLnBrk="1" latinLnBrk="0" hangingPunct="1">
        <a:defRPr sz="194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9FAD7-F221-BE04-28A8-1220B6DB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📊 </a:t>
            </a:r>
            <a:r>
              <a:rPr lang="en-US" b="1" i="1" dirty="0">
                <a:solidFill>
                  <a:schemeClr val="bg1"/>
                </a:solidFill>
              </a:rPr>
              <a:t>Why Hockey Analytics Matter (At Any Level)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C4EC5797-461E-68E5-E746-034F3FF98803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C4947E9-B047-DF02-F99B-E27F729AE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2EA88A-E5DB-6A2F-4629-3DBC8F416E01}"/>
              </a:ext>
            </a:extLst>
          </p:cNvPr>
          <p:cNvSpPr txBox="1"/>
          <p:nvPr/>
        </p:nvSpPr>
        <p:spPr>
          <a:xfrm>
            <a:off x="768309" y="4879538"/>
            <a:ext cx="80328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</a:rPr>
              <a:t>Better decisions. Clearer development. Smarter teams</a:t>
            </a:r>
          </a:p>
        </p:txBody>
      </p:sp>
    </p:spTree>
    <p:extLst>
      <p:ext uri="{BB962C8B-B14F-4D97-AF65-F5344CB8AC3E}">
        <p14:creationId xmlns:p14="http://schemas.microsoft.com/office/powerpoint/2010/main" val="1234033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02B35C-CB8D-6E9B-FE80-3D6D7DB35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34317-9DC7-8987-0C1B-48AFD9A25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🚨 </a:t>
            </a:r>
            <a:r>
              <a:rPr lang="en-US" b="1" i="1" dirty="0">
                <a:solidFill>
                  <a:schemeClr val="bg1"/>
                </a:solidFill>
              </a:rPr>
              <a:t>Most Hockey Decisions Are Made on Feel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3BAAC43D-F138-9DA9-3AB3-E260CBEBC78F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E72D6FA-3E3E-110F-7955-9F5C6FA3B8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5D18030-B238-8117-2B8C-A1E1B575F8D9}"/>
              </a:ext>
            </a:extLst>
          </p:cNvPr>
          <p:cNvSpPr txBox="1"/>
          <p:nvPr/>
        </p:nvSpPr>
        <p:spPr>
          <a:xfrm>
            <a:off x="768309" y="3043241"/>
            <a:ext cx="803283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Ice time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Line changes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Player roles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Development focus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Often based on: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Memory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Gut feel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Loud moments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/>
              <a:t>⚠️ </a:t>
            </a:r>
            <a:r>
              <a:rPr lang="en-US" sz="4000" i="1" dirty="0">
                <a:solidFill>
                  <a:schemeClr val="bg1"/>
                </a:solidFill>
              </a:rPr>
              <a:t>But memory is biased — data isn’t.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347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E11F9-51B4-5F46-DB11-0BDF06D37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19BAA-5644-2C60-1D8E-948AF6D70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🔍 </a:t>
            </a:r>
            <a:r>
              <a:rPr lang="en-US" b="1" i="1" dirty="0">
                <a:solidFill>
                  <a:schemeClr val="bg1"/>
                </a:solidFill>
              </a:rPr>
              <a:t>What Analytics Give Coaches &amp; Players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2DDE4C66-D6C0-E04B-E1BF-4DCB396B0735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C8A5AF-7743-48A7-40BF-8D518CF7B0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CFD6DDF-1434-F5A2-BBEC-59BA951830F7}"/>
              </a:ext>
            </a:extLst>
          </p:cNvPr>
          <p:cNvSpPr txBox="1"/>
          <p:nvPr/>
        </p:nvSpPr>
        <p:spPr>
          <a:xfrm>
            <a:off x="921503" y="4375230"/>
            <a:ext cx="8032831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Objective feedback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Patterns you can’t see live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Proof behind coaching instincts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 shared language for development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/>
              <a:t>📈 </a:t>
            </a:r>
            <a:r>
              <a:rPr lang="en-US" sz="4000" i="1" dirty="0">
                <a:solidFill>
                  <a:schemeClr val="bg1"/>
                </a:solidFill>
              </a:rPr>
              <a:t>Analytics don’t replace coaches — they empower them.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676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5BF89-685A-4049-ABEA-9AC0A73DF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E6106-291C-4CF7-D3D0-A2FFC8950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➡️ </a:t>
            </a:r>
            <a:r>
              <a:rPr lang="en-US" b="1" i="1" dirty="0">
                <a:solidFill>
                  <a:schemeClr val="bg1"/>
                </a:solidFill>
              </a:rPr>
              <a:t>Zone Entries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9B71EF7B-D4AC-0150-4D54-7F70F0688018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5E241FC-2DD6-E004-3396-5916350CE7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941AA4-68C4-C687-A368-38F69FC470DE}"/>
              </a:ext>
            </a:extLst>
          </p:cNvPr>
          <p:cNvSpPr txBox="1"/>
          <p:nvPr/>
        </p:nvSpPr>
        <p:spPr>
          <a:xfrm>
            <a:off x="921503" y="3485433"/>
            <a:ext cx="803283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Analytics can show: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Who gains the zone with control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Dump-in vs carry-in success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Entry success by lane or side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Use It To: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Optimize breakouts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Assign puck carriers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Improve offensive efficiency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83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2E220-0B3F-86DA-33EF-CBA06C35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EC104-75DB-C4E7-4AA4-62A77608B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🎯 </a:t>
            </a:r>
            <a:r>
              <a:rPr lang="en-US" b="1" i="1" dirty="0">
                <a:solidFill>
                  <a:schemeClr val="bg1"/>
                </a:solidFill>
              </a:rPr>
              <a:t>Shot Quality &gt; Shot Count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700AA57D-A33F-37B1-DD9A-F7FF61E0291B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7335E69-3D73-4EE3-ACDB-8D926CFD1C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7596D5-C8A3-E92E-7123-E0F0D849CE53}"/>
              </a:ext>
            </a:extLst>
          </p:cNvPr>
          <p:cNvSpPr txBox="1"/>
          <p:nvPr/>
        </p:nvSpPr>
        <p:spPr>
          <a:xfrm>
            <a:off x="921503" y="2869880"/>
            <a:ext cx="803283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Not all shots are equal.</a:t>
            </a:r>
          </a:p>
          <a:p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dirty="0">
                <a:solidFill>
                  <a:schemeClr val="bg1"/>
                </a:solidFill>
              </a:rPr>
              <a:t>Analytics track: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Shot location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Shot type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Traffic / pressure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Use It To: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Coach shot selection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Improve scoring chances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Evaluate true offensive impact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6214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3C0E08-F987-6963-7364-97FFF9D12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D26E-D891-2063-AB96-1DD8174B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🛡️ </a:t>
            </a:r>
            <a:r>
              <a:rPr lang="en-US" b="1" i="1" dirty="0">
                <a:solidFill>
                  <a:schemeClr val="bg1"/>
                </a:solidFill>
              </a:rPr>
              <a:t>Defensive Reads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E8CB977E-E28C-28CA-D02B-2303F5F97B45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AE29BEE-D43D-0EE8-7D92-85C8052404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8E33BF-C6C4-EE4E-15BF-CC5FC036AF6F}"/>
              </a:ext>
            </a:extLst>
          </p:cNvPr>
          <p:cNvSpPr txBox="1"/>
          <p:nvPr/>
        </p:nvSpPr>
        <p:spPr>
          <a:xfrm>
            <a:off x="921503" y="3485433"/>
            <a:ext cx="8032831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Analytics can highlight: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Gap control effectiveness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Rush defense success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Stick positioning &amp; denial rates</a:t>
            </a:r>
          </a:p>
          <a:p>
            <a:endParaRPr lang="en-US" sz="4000" b="1" dirty="0">
              <a:solidFill>
                <a:schemeClr val="bg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Use It To: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Identify reliable defenders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Coach positioning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✅ Reduce high-danger chances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9975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711DD5-50E3-F380-9603-BCB49F5FC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69C8-FB52-100A-C6C3-BD187123F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🧠 </a:t>
            </a:r>
            <a:r>
              <a:rPr lang="en-US" b="1" i="1" dirty="0">
                <a:solidFill>
                  <a:schemeClr val="bg1"/>
                </a:solidFill>
              </a:rPr>
              <a:t>Analytics Turn Games Into Feedback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53886135-0756-9297-E386-07CE08B2BA69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4F14EC1-04BD-4264-03F7-971EF0B44D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9FE58F-9321-8548-8CF8-A12707174E9E}"/>
              </a:ext>
            </a:extLst>
          </p:cNvPr>
          <p:cNvSpPr txBox="1"/>
          <p:nvPr/>
        </p:nvSpPr>
        <p:spPr>
          <a:xfrm>
            <a:off x="921503" y="3971597"/>
            <a:ext cx="80328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Every shift becomes: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 data point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 learning opportunity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</a:rPr>
              <a:t>A chance to improve faster</a:t>
            </a:r>
          </a:p>
          <a:p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📊 </a:t>
            </a:r>
            <a:r>
              <a:rPr lang="en-US" sz="4000" i="1" dirty="0">
                <a:solidFill>
                  <a:schemeClr val="bg1"/>
                </a:solidFill>
              </a:rPr>
              <a:t>What gets measured gets better.</a:t>
            </a:r>
            <a:endParaRPr lang="en-US" sz="4000" dirty="0">
              <a:solidFill>
                <a:schemeClr val="bg1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860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3DA50D-3702-2FB2-9596-62B0CA3F2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1E28-9CF2-1C9B-9197-962DA969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❄️ </a:t>
            </a:r>
            <a:r>
              <a:rPr lang="en-US" b="1" i="1" dirty="0">
                <a:solidFill>
                  <a:schemeClr val="bg1"/>
                </a:solidFill>
              </a:rPr>
              <a:t>This Is What </a:t>
            </a:r>
            <a:r>
              <a:rPr lang="en-US" b="1" i="1" dirty="0" err="1">
                <a:solidFill>
                  <a:schemeClr val="bg1"/>
                </a:solidFill>
              </a:rPr>
              <a:t>IceStat</a:t>
            </a:r>
            <a:r>
              <a:rPr lang="en-US" b="1" i="1" dirty="0">
                <a:solidFill>
                  <a:schemeClr val="bg1"/>
                </a:solidFill>
              </a:rPr>
              <a:t> Is Building</a:t>
            </a:r>
          </a:p>
        </p:txBody>
      </p:sp>
      <p:sp>
        <p:nvSpPr>
          <p:cNvPr id="5" name="AutoShape 4" descr="Uploaded image">
            <a:extLst>
              <a:ext uri="{FF2B5EF4-FFF2-40B4-BE49-F238E27FC236}">
                <a16:creationId xmlns:a16="http://schemas.microsoft.com/office/drawing/2014/main" id="{DA7C7884-239D-8D8A-E6B5-3915D93E339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4784725" y="4375230"/>
            <a:ext cx="4468270" cy="4468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C981EE-FFB9-8D31-5CD9-CB381F355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5229" y="11331615"/>
            <a:ext cx="2467208" cy="836342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A81D48A-F379-87A6-9CB6-EB513E18DF32}"/>
              </a:ext>
            </a:extLst>
          </p:cNvPr>
          <p:cNvSpPr txBox="1"/>
          <p:nvPr/>
        </p:nvSpPr>
        <p:spPr>
          <a:xfrm>
            <a:off x="921503" y="3971597"/>
            <a:ext cx="803283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Simple. Actionable. Coach-friendly hockey analytics —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built for real teams, not just pros.</a:t>
            </a:r>
          </a:p>
          <a:p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👀 Follow for insights, breakdowns &amp; tools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117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6DBAD47DAE2549A25534424885B22B" ma:contentTypeVersion="4" ma:contentTypeDescription="Create a new document." ma:contentTypeScope="" ma:versionID="c1cf978bbfc1e7af0b71e18e789d0ad2">
  <xsd:schema xmlns:xsd="http://www.w3.org/2001/XMLSchema" xmlns:xs="http://www.w3.org/2001/XMLSchema" xmlns:p="http://schemas.microsoft.com/office/2006/metadata/properties" xmlns:ns3="41552314-f0a9-45db-93c5-eb7fa7005294" targetNamespace="http://schemas.microsoft.com/office/2006/metadata/properties" ma:root="true" ma:fieldsID="09d0c0800a9ebc5116ce44ca3215b09e" ns3:_="">
    <xsd:import namespace="41552314-f0a9-45db-93c5-eb7fa700529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552314-f0a9-45db-93c5-eb7fa700529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042CA2-452A-4253-9EFE-7B64D16FC01D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41552314-f0a9-45db-93c5-eb7fa7005294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2AFD331-9516-419E-AB0C-268D9EEDC153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1552314-f0a9-45db-93c5-eb7fa7005294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979F7E-6230-4DBD-9299-08BCD676F50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203</TotalTime>
  <Words>267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📊 Why Hockey Analytics Matter (At Any Level)</vt:lpstr>
      <vt:lpstr>🚨 Most Hockey Decisions Are Made on Feel</vt:lpstr>
      <vt:lpstr>🔍 What Analytics Give Coaches &amp; Players</vt:lpstr>
      <vt:lpstr>➡️ Zone Entries</vt:lpstr>
      <vt:lpstr>🎯 Shot Quality &gt; Shot Count</vt:lpstr>
      <vt:lpstr>🛡️ Defensive Reads</vt:lpstr>
      <vt:lpstr>🧠 Analytics Turn Games Into Feedback</vt:lpstr>
      <vt:lpstr>❄️ This Is What IceStat Is Building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Brent Breslin</dc:creator>
  <cp:lastModifiedBy>Brent Breslin</cp:lastModifiedBy>
  <cp:revision>3</cp:revision>
  <dcterms:created xsi:type="dcterms:W3CDTF">2025-12-07T14:07:30Z</dcterms:created>
  <dcterms:modified xsi:type="dcterms:W3CDTF">2025-12-16T04:16:48Z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0x0101005E6DBAD47DAE2549A25534424885B22B</vt:lpwstr>
  </property>
</Properties>
</file>